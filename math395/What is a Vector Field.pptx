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BA8E-13AA-47F1-B544-1994630229B2}" type="datetimeFigureOut">
              <a:rPr lang="en-US" smtClean="0"/>
              <a:t>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DF06-5759-48D0-ABEB-5702F631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8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BA8E-13AA-47F1-B544-1994630229B2}" type="datetimeFigureOut">
              <a:rPr lang="en-US" smtClean="0"/>
              <a:t>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DF06-5759-48D0-ABEB-5702F631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88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BA8E-13AA-47F1-B544-1994630229B2}" type="datetimeFigureOut">
              <a:rPr lang="en-US" smtClean="0"/>
              <a:t>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DF06-5759-48D0-ABEB-5702F631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4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BA8E-13AA-47F1-B544-1994630229B2}" type="datetimeFigureOut">
              <a:rPr lang="en-US" smtClean="0"/>
              <a:t>2/10/2015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DF06-5759-48D0-ABEB-5702F631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9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BA8E-13AA-47F1-B544-1994630229B2}" type="datetimeFigureOut">
              <a:rPr lang="en-US" smtClean="0"/>
              <a:t>2/10/2015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DF06-5759-48D0-ABEB-5702F631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6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BA8E-13AA-47F1-B544-1994630229B2}" type="datetimeFigureOut">
              <a:rPr lang="en-US" smtClean="0"/>
              <a:t>2/10/2015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DF06-5759-48D0-ABEB-5702F631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5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BA8E-13AA-47F1-B544-1994630229B2}" type="datetimeFigureOut">
              <a:rPr lang="en-US" smtClean="0"/>
              <a:t>2/10/2015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DF06-5759-48D0-ABEB-5702F631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90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BA8E-13AA-47F1-B544-1994630229B2}" type="datetimeFigureOut">
              <a:rPr lang="en-US" smtClean="0"/>
              <a:t>2/10/2015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DF06-5759-48D0-ABEB-5702F631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15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BA8E-13AA-47F1-B544-1994630229B2}" type="datetimeFigureOut">
              <a:rPr lang="en-US" smtClean="0"/>
              <a:t>2/10/2015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DF06-5759-48D0-ABEB-5702F631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1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BA8E-13AA-47F1-B544-1994630229B2}" type="datetimeFigureOut">
              <a:rPr lang="en-US" smtClean="0"/>
              <a:t>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DF06-5759-48D0-ABEB-5702F631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84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2BA8E-13AA-47F1-B544-1994630229B2}" type="datetimeFigureOut">
              <a:rPr lang="en-US" smtClean="0"/>
              <a:t>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DF06-5759-48D0-ABEB-5702F631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58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2BA8E-13AA-47F1-B544-1994630229B2}" type="datetimeFigureOut">
              <a:rPr lang="en-US" smtClean="0"/>
              <a:t>2/10/2015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8DF06-5759-48D0-ABEB-5702F6311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6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://ibphysicsstuff.wdfiles.com/local--files/gravitation/gravityfield.jpg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6644"/>
            <a:ext cx="9144000" cy="1016145"/>
          </a:xfrm>
        </p:spPr>
        <p:txBody>
          <a:bodyPr/>
          <a:lstStyle/>
          <a:p>
            <a:r>
              <a:rPr lang="en-US" dirty="0" smtClean="0"/>
              <a:t>What is a Vector Field?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736" y="2718810"/>
            <a:ext cx="9452264" cy="3546908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>F</a:t>
            </a:r>
            <a:r>
              <a:rPr lang="en-US" sz="4000" dirty="0" smtClean="0"/>
              <a:t>(x, y) = P(x, y)</a:t>
            </a:r>
            <a:r>
              <a:rPr lang="en-US" sz="4000" b="1" dirty="0" err="1" smtClean="0"/>
              <a:t>i</a:t>
            </a:r>
            <a:r>
              <a:rPr lang="en-US" sz="4000" dirty="0" smtClean="0"/>
              <a:t> + Q(x, y)</a:t>
            </a:r>
            <a:r>
              <a:rPr lang="en-US" sz="4000" b="1" dirty="0" smtClean="0"/>
              <a:t>j </a:t>
            </a:r>
            <a:r>
              <a:rPr lang="en-US" sz="4000" dirty="0" smtClean="0"/>
              <a:t>= &lt; P(x, y), Q(x, y) &gt;</a:t>
            </a:r>
          </a:p>
          <a:p>
            <a:endParaRPr lang="en-US" sz="4000" b="1" dirty="0"/>
          </a:p>
          <a:p>
            <a:r>
              <a:rPr lang="en-US" sz="4000" b="1" dirty="0" smtClean="0"/>
              <a:t>F </a:t>
            </a:r>
            <a:r>
              <a:rPr lang="en-US" sz="4000" dirty="0" smtClean="0"/>
              <a:t>= P</a:t>
            </a:r>
            <a:r>
              <a:rPr lang="en-US" sz="4000" b="1" dirty="0" smtClean="0"/>
              <a:t>i </a:t>
            </a:r>
            <a:r>
              <a:rPr lang="en-US" sz="4000" dirty="0" smtClean="0"/>
              <a:t>+ </a:t>
            </a:r>
            <a:r>
              <a:rPr lang="en-US" sz="4000" dirty="0" err="1" smtClean="0"/>
              <a:t>Q</a:t>
            </a:r>
            <a:r>
              <a:rPr lang="en-US" sz="4000" b="1" dirty="0" err="1" smtClean="0"/>
              <a:t>j</a:t>
            </a:r>
            <a:endParaRPr lang="en-US" sz="4000" b="1" dirty="0" smtClean="0"/>
          </a:p>
          <a:p>
            <a:endParaRPr lang="en-US" sz="3200" b="1" dirty="0"/>
          </a:p>
          <a:p>
            <a:endParaRPr lang="en-US" sz="3200" b="1" dirty="0" smtClean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77392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+mn-lt"/>
              </a:rPr>
              <a:t>F</a:t>
            </a:r>
            <a:r>
              <a:rPr lang="en-US" sz="4000" dirty="0" smtClean="0">
                <a:latin typeface="+mn-lt"/>
              </a:rPr>
              <a:t>(x, y) = -</a:t>
            </a:r>
            <a:r>
              <a:rPr lang="en-US" sz="4000" dirty="0" err="1" smtClean="0">
                <a:latin typeface="+mn-lt"/>
              </a:rPr>
              <a:t>y</a:t>
            </a:r>
            <a:r>
              <a:rPr lang="en-US" sz="4000" b="1" dirty="0" err="1" smtClean="0">
                <a:latin typeface="+mn-lt"/>
              </a:rPr>
              <a:t>i</a:t>
            </a:r>
            <a:r>
              <a:rPr lang="en-US" sz="4000" b="1" dirty="0" smtClean="0">
                <a:latin typeface="+mn-lt"/>
              </a:rPr>
              <a:t> </a:t>
            </a:r>
            <a:r>
              <a:rPr lang="en-US" sz="4000" dirty="0" smtClean="0">
                <a:latin typeface="+mn-lt"/>
              </a:rPr>
              <a:t>+ </a:t>
            </a:r>
            <a:r>
              <a:rPr lang="en-US" sz="4000" dirty="0" err="1" smtClean="0">
                <a:latin typeface="+mn-lt"/>
              </a:rPr>
              <a:t>x</a:t>
            </a:r>
            <a:r>
              <a:rPr lang="en-US" sz="4000" b="1" dirty="0" err="1" smtClean="0">
                <a:latin typeface="+mn-lt"/>
              </a:rPr>
              <a:t>j</a:t>
            </a:r>
            <a:endParaRPr lang="en-US" sz="4000" b="1" dirty="0">
              <a:latin typeface="+mn-lt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6157836"/>
              </p:ext>
            </p:extLst>
          </p:nvPr>
        </p:nvGraphicFramePr>
        <p:xfrm>
          <a:off x="1984662" y="1867191"/>
          <a:ext cx="8122226" cy="468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113"/>
                <a:gridCol w="4061113"/>
              </a:tblGrid>
              <a:tr h="586184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smtClean="0"/>
                        <a:t>(x, y)</a:t>
                      </a:r>
                      <a:endParaRPr lang="en-US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F</a:t>
                      </a:r>
                      <a:r>
                        <a:rPr lang="en-US" sz="2800" b="0" dirty="0" smtClean="0"/>
                        <a:t>(x, y)</a:t>
                      </a:r>
                      <a:endParaRPr lang="en-US" sz="2800" b="1" dirty="0"/>
                    </a:p>
                  </a:txBody>
                  <a:tcPr/>
                </a:tc>
              </a:tr>
              <a:tr h="5861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(1,</a:t>
                      </a:r>
                      <a:r>
                        <a:rPr lang="en-US" sz="2800" baseline="0" dirty="0" smtClean="0"/>
                        <a:t> 0)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&lt;</a:t>
                      </a:r>
                      <a:r>
                        <a:rPr lang="en-US" sz="2800" baseline="0" dirty="0" smtClean="0"/>
                        <a:t> 0, 1 &gt;</a:t>
                      </a:r>
                      <a:endParaRPr lang="en-US" sz="2800" dirty="0"/>
                    </a:p>
                  </a:txBody>
                  <a:tcPr/>
                </a:tc>
              </a:tr>
              <a:tr h="5861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(1, 1)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&lt; -1, 1</a:t>
                      </a:r>
                      <a:r>
                        <a:rPr lang="en-US" sz="2800" baseline="0" dirty="0" smtClean="0"/>
                        <a:t> &gt;</a:t>
                      </a:r>
                      <a:endParaRPr lang="en-US" sz="2800" dirty="0"/>
                    </a:p>
                  </a:txBody>
                  <a:tcPr/>
                </a:tc>
              </a:tr>
              <a:tr h="5861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(0, 1)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&lt; -1, 0</a:t>
                      </a:r>
                      <a:r>
                        <a:rPr lang="en-US" sz="2800" baseline="0" dirty="0" smtClean="0"/>
                        <a:t> &gt;</a:t>
                      </a:r>
                      <a:endParaRPr lang="en-US" sz="2800" dirty="0"/>
                    </a:p>
                  </a:txBody>
                  <a:tcPr/>
                </a:tc>
              </a:tr>
              <a:tr h="5861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(-1, -2)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&lt; 2, -1 &gt;</a:t>
                      </a:r>
                      <a:endParaRPr lang="en-US" sz="2800" dirty="0"/>
                    </a:p>
                  </a:txBody>
                  <a:tcPr/>
                </a:tc>
              </a:tr>
              <a:tr h="5861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(2, 2)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&lt; -2, 2 &gt;</a:t>
                      </a:r>
                      <a:endParaRPr lang="en-US" sz="2800" dirty="0"/>
                    </a:p>
                  </a:txBody>
                  <a:tcPr/>
                </a:tc>
              </a:tr>
              <a:tr h="5861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(-2, 1)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&lt; -1, -2 &gt;</a:t>
                      </a:r>
                      <a:endParaRPr lang="en-US" sz="2800" dirty="0"/>
                    </a:p>
                  </a:txBody>
                  <a:tcPr/>
                </a:tc>
              </a:tr>
              <a:tr h="5861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(2, -2)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&lt; 2, 2 &gt;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53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2713" y="1371600"/>
            <a:ext cx="6361774" cy="54080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83527" y="218208"/>
            <a:ext cx="53201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/>
              <a:t>F</a:t>
            </a:r>
            <a:r>
              <a:rPr lang="en-US" sz="4000" dirty="0" smtClean="0"/>
              <a:t>(x, y) = -</a:t>
            </a:r>
            <a:r>
              <a:rPr lang="en-US" sz="4000" dirty="0" err="1" smtClean="0"/>
              <a:t>y</a:t>
            </a:r>
            <a:r>
              <a:rPr lang="en-US" sz="4000" b="1" dirty="0" err="1" smtClean="0"/>
              <a:t>i</a:t>
            </a:r>
            <a:r>
              <a:rPr lang="en-US" sz="4000" dirty="0" smtClean="0"/>
              <a:t> + </a:t>
            </a:r>
            <a:r>
              <a:rPr lang="en-US" sz="4000" dirty="0" err="1" smtClean="0"/>
              <a:t>x</a:t>
            </a:r>
            <a:r>
              <a:rPr lang="en-US" sz="4000" b="1" dirty="0" err="1" smtClean="0"/>
              <a:t>j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923725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2713" y="1371600"/>
            <a:ext cx="6361774" cy="54080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83527" y="218208"/>
            <a:ext cx="53201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/>
              <a:t>F</a:t>
            </a:r>
            <a:r>
              <a:rPr lang="en-US" sz="4000" dirty="0" smtClean="0"/>
              <a:t>(x, y) = -</a:t>
            </a:r>
            <a:r>
              <a:rPr lang="en-US" sz="4000" dirty="0" err="1" smtClean="0"/>
              <a:t>y</a:t>
            </a:r>
            <a:r>
              <a:rPr lang="en-US" sz="4000" b="1" dirty="0" err="1" smtClean="0"/>
              <a:t>i</a:t>
            </a:r>
            <a:r>
              <a:rPr lang="en-US" sz="4000" dirty="0" smtClean="0"/>
              <a:t> + </a:t>
            </a:r>
            <a:r>
              <a:rPr lang="en-US" sz="4000" dirty="0" err="1" smtClean="0"/>
              <a:t>x</a:t>
            </a:r>
            <a:r>
              <a:rPr lang="en-US" sz="4000" b="1" dirty="0" err="1" smtClean="0"/>
              <a:t>j</a:t>
            </a:r>
            <a:endParaRPr lang="en-US" sz="4000" b="1" dirty="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1787236" y="1808018"/>
            <a:ext cx="1413164" cy="3948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1500" y="2005445"/>
            <a:ext cx="1340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(-2, 2)</a:t>
            </a:r>
          </a:p>
          <a:p>
            <a:pPr algn="ctr"/>
            <a:r>
              <a:rPr lang="en-US" sz="2400" dirty="0" smtClean="0"/>
              <a:t>&lt; -2, -2 &gt;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585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204864" cy="1325563"/>
          </a:xfrm>
        </p:spPr>
        <p:txBody>
          <a:bodyPr/>
          <a:lstStyle/>
          <a:p>
            <a:r>
              <a:rPr lang="en-US" b="1" dirty="0" smtClean="0"/>
              <a:t> F</a:t>
            </a:r>
            <a:r>
              <a:rPr lang="en-US" dirty="0" smtClean="0"/>
              <a:t>(x, y) = x³</a:t>
            </a:r>
            <a:r>
              <a:rPr lang="en-US" b="1" dirty="0" smtClean="0"/>
              <a:t>i </a:t>
            </a:r>
            <a:r>
              <a:rPr lang="en-US" dirty="0" smtClean="0"/>
              <a:t>+ y²</a:t>
            </a:r>
            <a:r>
              <a:rPr lang="en-US" b="1" dirty="0" smtClean="0"/>
              <a:t>j                 F</a:t>
            </a:r>
            <a:r>
              <a:rPr lang="en-US" dirty="0" smtClean="0"/>
              <a:t>(x, y) = sin(x)</a:t>
            </a:r>
            <a:r>
              <a:rPr lang="en-US" b="1" dirty="0" err="1" smtClean="0"/>
              <a:t>i</a:t>
            </a:r>
            <a:r>
              <a:rPr lang="en-US" b="1" dirty="0" smtClean="0"/>
              <a:t> </a:t>
            </a:r>
            <a:r>
              <a:rPr lang="en-US" dirty="0" smtClean="0"/>
              <a:t>+ tan(y)</a:t>
            </a:r>
            <a:r>
              <a:rPr lang="en-US" b="1" dirty="0" smtClean="0"/>
              <a:t>j</a:t>
            </a:r>
            <a:endParaRPr lang="en-US" b="1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555" y="1807197"/>
            <a:ext cx="4341075" cy="43513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10" y="1807197"/>
            <a:ext cx="4353790" cy="436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6644"/>
            <a:ext cx="9144000" cy="1016145"/>
          </a:xfrm>
        </p:spPr>
        <p:txBody>
          <a:bodyPr/>
          <a:lstStyle/>
          <a:p>
            <a:r>
              <a:rPr lang="en-US" dirty="0" smtClean="0"/>
              <a:t>Recall…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1435" y="2386301"/>
            <a:ext cx="9860973" cy="3869026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>F</a:t>
            </a:r>
            <a:r>
              <a:rPr lang="en-US" sz="4000" dirty="0" smtClean="0"/>
              <a:t>(x, y) = P(x, y)</a:t>
            </a:r>
            <a:r>
              <a:rPr lang="en-US" sz="4000" b="1" dirty="0" err="1" smtClean="0"/>
              <a:t>i</a:t>
            </a:r>
            <a:r>
              <a:rPr lang="en-US" sz="4000" dirty="0" smtClean="0"/>
              <a:t> + Q(x, y)</a:t>
            </a:r>
            <a:r>
              <a:rPr lang="en-US" sz="4000" b="1" dirty="0" smtClean="0"/>
              <a:t>j </a:t>
            </a:r>
            <a:r>
              <a:rPr lang="en-US" sz="4000" dirty="0" smtClean="0"/>
              <a:t>= &lt; P(x, y), Q(x, y) &gt;</a:t>
            </a:r>
          </a:p>
          <a:p>
            <a:r>
              <a:rPr lang="en-US" sz="4000" dirty="0" smtClean="0"/>
              <a:t>or</a:t>
            </a:r>
            <a:endParaRPr lang="en-US" sz="4000" b="1" dirty="0"/>
          </a:p>
          <a:p>
            <a:r>
              <a:rPr lang="en-US" sz="4000" b="1" dirty="0" smtClean="0"/>
              <a:t>F </a:t>
            </a:r>
            <a:r>
              <a:rPr lang="en-US" sz="4000" dirty="0" smtClean="0"/>
              <a:t>= P</a:t>
            </a:r>
            <a:r>
              <a:rPr lang="en-US" sz="4000" b="1" dirty="0" smtClean="0"/>
              <a:t>i </a:t>
            </a:r>
            <a:r>
              <a:rPr lang="en-US" sz="4000" dirty="0" smtClean="0"/>
              <a:t>+ </a:t>
            </a:r>
            <a:r>
              <a:rPr lang="en-US" sz="4000" dirty="0" err="1" smtClean="0"/>
              <a:t>Q</a:t>
            </a:r>
            <a:r>
              <a:rPr lang="en-US" sz="4000" b="1" dirty="0" err="1" smtClean="0"/>
              <a:t>j</a:t>
            </a:r>
            <a:endParaRPr lang="en-US" sz="4000" b="1" dirty="0" smtClean="0"/>
          </a:p>
          <a:p>
            <a:endParaRPr lang="en-US" sz="4000" b="1" dirty="0" smtClean="0"/>
          </a:p>
          <a:p>
            <a:r>
              <a:rPr lang="en-US" sz="4000" b="1" dirty="0" smtClean="0"/>
              <a:t>F</a:t>
            </a:r>
            <a:r>
              <a:rPr lang="en-US" sz="4000" dirty="0" smtClean="0"/>
              <a:t>(x, y, z) = P</a:t>
            </a:r>
            <a:r>
              <a:rPr lang="en-US" sz="4000" b="1" dirty="0" smtClean="0"/>
              <a:t>i</a:t>
            </a:r>
            <a:r>
              <a:rPr lang="en-US" sz="4000" dirty="0" smtClean="0"/>
              <a:t> + </a:t>
            </a:r>
            <a:r>
              <a:rPr lang="en-US" sz="4000" dirty="0" err="1" smtClean="0"/>
              <a:t>Q</a:t>
            </a:r>
            <a:r>
              <a:rPr lang="en-US" sz="4000" b="1" dirty="0" err="1"/>
              <a:t>j</a:t>
            </a:r>
            <a:r>
              <a:rPr lang="en-US" sz="4000" dirty="0" smtClean="0"/>
              <a:t> + </a:t>
            </a:r>
            <a:r>
              <a:rPr lang="en-US" sz="4000" dirty="0" err="1" smtClean="0"/>
              <a:t>R</a:t>
            </a:r>
            <a:r>
              <a:rPr lang="en-US" sz="4000" b="1" dirty="0" err="1" smtClean="0"/>
              <a:t>k</a:t>
            </a:r>
            <a:endParaRPr lang="en-US" sz="4000" b="1" dirty="0"/>
          </a:p>
          <a:p>
            <a:endParaRPr lang="en-US" sz="3200" b="1" dirty="0" smtClean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6977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+mn-lt"/>
              </a:rPr>
              <a:t>F</a:t>
            </a:r>
            <a:r>
              <a:rPr lang="en-US" sz="4000" dirty="0" smtClean="0">
                <a:latin typeface="+mn-lt"/>
              </a:rPr>
              <a:t>(x, y, z) = -x</a:t>
            </a:r>
            <a:r>
              <a:rPr lang="en-US" sz="4000" b="1" dirty="0" smtClean="0">
                <a:latin typeface="+mn-lt"/>
              </a:rPr>
              <a:t>i </a:t>
            </a:r>
            <a:r>
              <a:rPr lang="en-US" sz="4000" dirty="0" smtClean="0">
                <a:latin typeface="+mn-lt"/>
              </a:rPr>
              <a:t>+ </a:t>
            </a:r>
            <a:r>
              <a:rPr lang="en-US" sz="4000" dirty="0" err="1" smtClean="0">
                <a:latin typeface="+mn-lt"/>
              </a:rPr>
              <a:t>y</a:t>
            </a:r>
            <a:r>
              <a:rPr lang="en-US" sz="4000" b="1" dirty="0" err="1" smtClean="0">
                <a:latin typeface="+mn-lt"/>
              </a:rPr>
              <a:t>j</a:t>
            </a:r>
            <a:r>
              <a:rPr lang="en-US" sz="4000" b="1" dirty="0" smtClean="0">
                <a:latin typeface="+mn-lt"/>
              </a:rPr>
              <a:t> </a:t>
            </a:r>
            <a:r>
              <a:rPr lang="en-US" sz="4000" dirty="0" smtClean="0">
                <a:latin typeface="+mn-lt"/>
              </a:rPr>
              <a:t>- </a:t>
            </a:r>
            <a:r>
              <a:rPr lang="en-US" sz="4000" dirty="0" err="1" smtClean="0">
                <a:latin typeface="+mn-lt"/>
              </a:rPr>
              <a:t>z</a:t>
            </a:r>
            <a:r>
              <a:rPr lang="en-US" sz="4000" b="1" dirty="0" err="1" smtClean="0">
                <a:latin typeface="+mn-lt"/>
              </a:rPr>
              <a:t>k</a:t>
            </a:r>
            <a:endParaRPr lang="en-US" sz="4000" b="1" dirty="0"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210" y="1856797"/>
            <a:ext cx="4961066" cy="49727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36" y="1690687"/>
            <a:ext cx="5277846" cy="4972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85111" y="3418609"/>
            <a:ext cx="613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z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1361210" y="6016336"/>
            <a:ext cx="619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x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3842111" y="6016336"/>
            <a:ext cx="613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y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8059882" y="1490634"/>
            <a:ext cx="65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y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1281064" y="4696691"/>
            <a:ext cx="554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x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8479920" y="6216391"/>
            <a:ext cx="612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z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6894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/>
              <a:t>Applications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1536" y="1825625"/>
            <a:ext cx="9452264" cy="4351338"/>
          </a:xfrm>
        </p:spPr>
        <p:txBody>
          <a:bodyPr/>
          <a:lstStyle/>
          <a:p>
            <a:r>
              <a:rPr lang="en-US" dirty="0" smtClean="0"/>
              <a:t>Wind pattern velocity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Water current</a:t>
            </a:r>
          </a:p>
          <a:p>
            <a:endParaRPr lang="en-US" dirty="0"/>
          </a:p>
          <a:p>
            <a:r>
              <a:rPr lang="en-US" dirty="0" smtClean="0"/>
              <a:t>Gravitational fields</a:t>
            </a:r>
          </a:p>
          <a:p>
            <a:endParaRPr lang="en-US" dirty="0"/>
          </a:p>
          <a:p>
            <a:r>
              <a:rPr lang="en-US" dirty="0" smtClean="0"/>
              <a:t>Electrical fields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428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75" y="201774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Magnetic Field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344" y="2054224"/>
            <a:ext cx="5717784" cy="42164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128" y="2326012"/>
            <a:ext cx="5871327" cy="394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6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Map of wind velocity for </a:t>
            </a:r>
            <a:r>
              <a:rPr lang="en-US" dirty="0" smtClean="0"/>
              <a:t>January, 2005 </a:t>
            </a:r>
            <a:r>
              <a:rPr lang="en-US" dirty="0"/>
              <a:t>from the </a:t>
            </a:r>
            <a:r>
              <a:rPr lang="en-US" dirty="0" err="1"/>
              <a:t>QuikSCAT</a:t>
            </a:r>
            <a:r>
              <a:rPr lang="en-US" dirty="0"/>
              <a:t> satellite.</a:t>
            </a:r>
          </a:p>
        </p:txBody>
      </p:sp>
      <p:pic>
        <p:nvPicPr>
          <p:cNvPr id="1026" name="Picture 2" descr="Map of wind velocity for January from the QuikSCAT satellite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491" y="2272074"/>
            <a:ext cx="7872845" cy="407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57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650" y="396298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Gravitational Force of Earth</a:t>
            </a:r>
            <a:endParaRPr lang="en-US" dirty="0"/>
          </a:p>
        </p:txBody>
      </p:sp>
      <p:pic>
        <p:nvPicPr>
          <p:cNvPr id="2050" name="Picture 2" descr="gravityfield.jpg">
            <a:hlinkClick r:id="rId2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75" y="2047009"/>
            <a:ext cx="4697951" cy="439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0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991" y="9330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/>
              <a:t>Hurricane Isabel in 2003</a:t>
            </a:r>
            <a:endParaRPr lang="en-US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1933" y="1418870"/>
            <a:ext cx="7471716" cy="528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9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272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What is a Vector Field?</vt:lpstr>
      <vt:lpstr>F(x, y) = -yi + xj</vt:lpstr>
      <vt:lpstr>PowerPoint Presentation</vt:lpstr>
      <vt:lpstr>PowerPoint Presentation</vt:lpstr>
      <vt:lpstr> F(x, y) = x³i + y²j                 F(x, y) = sin(x)i + tan(y)j</vt:lpstr>
      <vt:lpstr>Recall…</vt:lpstr>
      <vt:lpstr>F(x, y, z) = -xi + yj - zk</vt:lpstr>
      <vt:lpstr>Applications</vt:lpstr>
      <vt:lpstr>Magnetic Field</vt:lpstr>
      <vt:lpstr>Map of wind velocity for January, 2005 from the QuikSCAT satellite.</vt:lpstr>
      <vt:lpstr>Gravitational Force of Earth</vt:lpstr>
      <vt:lpstr>Hurricane Isabel in 2003</vt:lpstr>
    </vt:vector>
  </TitlesOfParts>
  <Company>Winona State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 Vector Field?</dc:title>
  <dc:creator>Beckel, Jacob N</dc:creator>
  <cp:lastModifiedBy>Beckel, Jacob N</cp:lastModifiedBy>
  <cp:revision>34</cp:revision>
  <dcterms:created xsi:type="dcterms:W3CDTF">2015-02-09T17:09:10Z</dcterms:created>
  <dcterms:modified xsi:type="dcterms:W3CDTF">2015-02-10T20:57:04Z</dcterms:modified>
</cp:coreProperties>
</file>